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D4DFB8-302D-48D3-9745-DB77ADE7528B}">
  <a:tblStyle styleId="{E5D4DFB8-302D-48D3-9745-DB77ADE752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13644"/>
            <a:ext cx="11601450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Detrimento Patrimonial en Acueductos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0439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Análisis Normativo, Jurisprudencial y Técnico en Colombia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524500" y="2938462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95275" y="3167062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Marco Normativo de la Gestión Fiscal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65283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Fundamentos legales del control en servicios públicos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28900"/>
            <a:ext cx="53340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628900"/>
            <a:ext cx="5334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Definición de Daño Patrimonial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952500" y="305752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Ley 610 de 2000, Art. 6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52500" y="3467100"/>
            <a:ext cx="4572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 entiende por daño patrimonial al Estado la lesión del patrimonio público, representada en el menoscabo, disminución o perjuicio de los bienes y recursos del Estado.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67500" y="3057525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Antieconómica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67500" y="3467100"/>
            <a:ext cx="4572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Ocurre cuando no se cumple con el principio de eficiencia, resultando en una pérdida de valor o utilidad de los recursos destinados al fin social del servicio.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762000" y="85725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Tipología del Daño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71500" y="85725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96202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Daño Emergente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1371600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Pérdida real de recursos ya invertidos: costos de químicos, energía y personal en agua potabilizada que se pierde por fugas técnicas.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2095500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Lucro Cesante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250507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Ingresos legítimos que la empresa deja de percibir por ineficiencia en micromedición o fraude comercial no controlado.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62275"/>
            <a:ext cx="11049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762000" y="571500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IANC como Eje de Responsabilidad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71500" y="571500"/>
            <a:ext cx="76200" cy="9906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571500" y="213360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El Índice de Agua No Contabilizada (IANC) es el indicador técnico clave para las Contralorías.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2857500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 IANC por encima del estándar de la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CRA (30%)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se califica como gestión ineficiente y es la base para imputar responsabilidad fiscal solidaria a gerentes.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66987"/>
            <a:ext cx="35559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566987"/>
            <a:ext cx="35559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566987"/>
            <a:ext cx="355595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Responsabilidad en ESP Públicas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682626" y="3576637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 Integral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762000" y="3986212"/>
            <a:ext cx="3174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Sujeción permanente a la Contraloría debido al origen público del capital.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4429076" y="3576637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Fiscal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508450" y="3986212"/>
            <a:ext cx="3174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Los directivos actúan como gestores fiscales directos de activos municipales.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175527" y="3576637"/>
            <a:ext cx="33336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Culpa Grave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254900" y="3986212"/>
            <a:ext cx="31749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 ineficiencia técnica es castigada bajo el régimen de responsabilidad de servidores.</a:t>
            </a:r>
            <a:endParaRPr/>
          </a:p>
        </p:txBody>
      </p:sp>
      <p:pic>
        <p:nvPicPr>
          <p:cNvPr descr="image.png" id="141" name="Google Shape;14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9363" y="28146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14876" y="281463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2751" y="2814637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Responsabilidad en ESP Privadas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621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276850" y="2805112"/>
            <a:ext cx="6660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Gestión de Activos Cedidos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276850" y="3214687"/>
            <a:ext cx="63436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 operar redes públicas, la empresa privada es custodio de bienes estatales. El deterioro por falta de mantenimiento constituye daño al patrimonio municipal.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276850" y="4205287"/>
            <a:ext cx="6343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Subsidios: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Son recursos públicos de destinación específica cuya mala administración genera hallazgos fiscales directos.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Caso Emblemático: EAAB Bogotá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3052762"/>
            <a:ext cx="5524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$130kM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71500" y="4386262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Millones de Hallazgo Fiscal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096000" y="2805112"/>
            <a:ext cx="5800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Auditoría 2022-2023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096000" y="3214687"/>
            <a:ext cx="5524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 Contraloría de Bogotá determinó que el agua producida y no facturada por incumplimiento de metas IANC representa un gasto ineficiente de recursos de la ciudad.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096000" y="4205287"/>
            <a:ext cx="5524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Este caso sienta un precedente sobre la exigencia de metas técnicas vinculantes.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Comparativa de Hallazgos Sectoriales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21"/>
          <p:cNvGraphicFramePr/>
          <p:nvPr/>
        </p:nvGraphicFramePr>
        <p:xfrm>
          <a:off x="571500" y="2466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{E5D4DFB8-302D-48D3-9745-DB77ADE7528B}</a:tableStyleId>
              </a:tblPr>
              <a:tblGrid>
                <a:gridCol w="1666875"/>
                <a:gridCol w="1952625"/>
                <a:gridCol w="4610100"/>
              </a:tblGrid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Caso / Entidad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Cuantía Estimada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Causa Principal del Detrimento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EAAB Bogotá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$130.000 Millones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Incumplimiento metas IANC (Auditoría 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 Andrés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$14.200 Millones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Ineficiencia en infraestructura (CGR)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Costa Atlántica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Por Definir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Falta de macro y micromedición (SuperServicios)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Valle del Cauca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Procesos Fiscales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Gestión antieconómica en juntas directivas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1"/>
          <p:cNvSpPr/>
          <p:nvPr/>
        </p:nvSpPr>
        <p:spPr>
          <a:xfrm>
            <a:off x="571500" y="3567112"/>
            <a:ext cx="166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2238375" y="3567112"/>
            <a:ext cx="1952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191000" y="3567112"/>
            <a:ext cx="4610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71500" y="4129087"/>
            <a:ext cx="166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2238375" y="4129087"/>
            <a:ext cx="1952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191000" y="4129087"/>
            <a:ext cx="4610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571500" y="4691062"/>
            <a:ext cx="166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2238375" y="4691062"/>
            <a:ext cx="1952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191000" y="4691062"/>
            <a:ext cx="4610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71500" y="5253037"/>
            <a:ext cx="1666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2238375" y="5253037"/>
            <a:ext cx="1952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191000" y="5253037"/>
            <a:ext cx="4610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Eficiencia Técnica vs. Riesgo Fiscal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6112668" y="3514725"/>
            <a:ext cx="55078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Operar por encima del 30% activa automáticamente la vigilancia de los entes de control por presunta gestión antieconómica.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Blindaje y Debida Diligencia</a:t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1047750" y="3028950"/>
            <a:ext cx="10487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Tecnología IANC_H2O: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Documentar la localización y reparación de fugas es la prueba reina de diligencia técnica.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1047750" y="3486150"/>
            <a:ext cx="10487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Ruptura de Nexo Causal: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 demostrar gestión proactiva, se desvirtúa la culpa grave necesaria para una condena fiscal.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1047750" y="3943350"/>
            <a:ext cx="10487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Trazabilidad: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El registro histórico de acciones de mantenimiento actúa como soporte ante auditorías externas.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1047750" y="4400550"/>
            <a:ext cx="10487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Digitalización: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Sustituye la subjetividad por datos precisos georreferenciados (GeoJSON/CSV).</a:t>
            </a:r>
            <a:endParaRPr/>
          </a:p>
        </p:txBody>
      </p:sp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67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81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386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/>
        </p:nvSpPr>
        <p:spPr>
          <a:xfrm>
            <a:off x="295275" y="2762250"/>
            <a:ext cx="116014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¿Preguntas?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71500" y="324802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Gracias por su atención en este análisis de responsabilidad fiscal.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71500" y="389572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IANC_H2O Platform |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71500" y="2583507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3486150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476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3476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4379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4379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918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1666875" y="2726382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https://media.istockphoto.com/id/177312653/photo/money-concept-of-a-faucet-full-of-change-pouring-money-out.jpg?s=612x612&amp;w=0&amp;k=20&amp;c=-rse62eKLXJOb-DpNc_62rsNcpQ0Deu9E9p3EmxCdVk=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1666875" y="3120479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pic>
        <p:nvPicPr>
          <p:cNvPr descr="image.png" id="228" name="Google Shape;2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94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1666875" y="362902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thumbnails/078/374/697/small/professional-technicians-performing-routine-maintenance-and-repairing-on-industrial-valve-and-pipeline-system-engineering-team-using-tablet-and-wrench-to-coordinate-repairs-on-water-cooling-system-photo.JPG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1666875" y="402312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316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666875" y="455265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https://images.stockcake.com/public/b/7/8/b788e4f2-87df-42e4-bf02-b443b973b832_large/wastewater-treatment-plant-stockcake.jpg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666875" y="477351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stockcake.com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