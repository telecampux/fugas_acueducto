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72357D-6C94-4552-9AE6-E501B4FD6793}">
  <a:tblStyle styleId="{7972357D-6C94-4552-9AE6-E501B4FD679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734550" y="6572250"/>
            <a:ext cx="1885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ESTRATEGIA TÉCNICO-LEAL 2024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740247"/>
            <a:ext cx="11601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         </a:t>
            </a:r>
            <a:r>
              <a:rPr b="1" i="0" lang="en-US" sz="5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Gestión Integral del IANC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1650" y="3762302"/>
            <a:ext cx="80964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Blindaje Jurídico y Fiscal ante el Detrimento Patrimonial en Sistemas de Acueducto de Colombia.</a:t>
            </a:r>
            <a:endParaRPr sz="1800"/>
          </a:p>
        </p:txBody>
      </p:sp>
      <p:sp>
        <p:nvSpPr>
          <p:cNvPr id="88" name="Google Shape;88;p13"/>
          <p:cNvSpPr/>
          <p:nvPr/>
        </p:nvSpPr>
        <p:spPr>
          <a:xfrm>
            <a:off x="571500" y="5070127"/>
            <a:ext cx="1428750" cy="476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chivo:Les Ferreres Aqueduct, built in the 1st century AD to ..."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7002" y="3429001"/>
            <a:ext cx="3576724" cy="268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286000" y="2224087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SECCIÓN 01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095500" y="2643187"/>
            <a:ext cx="8001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Marco Normativo Aplicable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286000" y="3662362"/>
            <a:ext cx="76200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Relación jerárquica de la normativa que rige la eficiencia y el control fiscal en Colombia.</a:t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/>
          <p:nvPr/>
        </p:nvSpPr>
        <p:spPr>
          <a:xfrm>
            <a:off x="571500" y="1552575"/>
            <a:ext cx="11049000" cy="3733800"/>
          </a:xfrm>
          <a:prstGeom prst="roundRect">
            <a:avLst>
              <a:gd fmla="val 0" name="adj"/>
            </a:avLst>
          </a:prstGeom>
          <a:solidFill>
            <a:srgbClr val="112240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" name="Google Shape;104;p15"/>
          <p:cNvGraphicFramePr/>
          <p:nvPr/>
        </p:nvGraphicFramePr>
        <p:xfrm>
          <a:off x="571500" y="1552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{7972357D-6C94-4552-9AE6-E501B4FD6793}</a:tableStyleId>
              </a:tblPr>
              <a:tblGrid>
                <a:gridCol w="2610150"/>
                <a:gridCol w="2510575"/>
                <a:gridCol w="5928275"/>
              </a:tblGrid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Norma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Alcance Principal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Relación con el IANC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Constitución Política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Arts. 365 - 370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Mandato de eficiencia en servicios públicos estatales.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Ley 142 de 1994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Régimen de Servicios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Obligatoriedad de control de pérdidas y eficiencia.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Ley 610 de 2000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Resp. Fiscal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Tifica la gestión ineficiente como daño patrimonial.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Res. CRA 943 de 2021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Compilación Reg.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Establece el estándar de eficiencia técnica (Umbral 30%).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Ley 1474 de 2011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Anticorrupción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Diligencia en la custodia de activos y recursos del Estado.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5" name="Google Shape;105;p15"/>
          <p:cNvSpPr/>
          <p:nvPr/>
        </p:nvSpPr>
        <p:spPr>
          <a:xfrm>
            <a:off x="571500" y="2209800"/>
            <a:ext cx="2610147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3181647" y="2209800"/>
            <a:ext cx="2510581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5692229" y="2209800"/>
            <a:ext cx="5928270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571500" y="2833687"/>
            <a:ext cx="2610147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3181647" y="2833687"/>
            <a:ext cx="2510581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5692229" y="2833687"/>
            <a:ext cx="5928270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71500" y="3443287"/>
            <a:ext cx="2610147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3181647" y="3443287"/>
            <a:ext cx="2510581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692229" y="3443287"/>
            <a:ext cx="5928270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71500" y="4052887"/>
            <a:ext cx="2610147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3181647" y="4052887"/>
            <a:ext cx="2510581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692229" y="4052887"/>
            <a:ext cx="5928270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1500" y="4662487"/>
            <a:ext cx="2610147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181647" y="4662487"/>
            <a:ext cx="2510581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692229" y="4662487"/>
            <a:ext cx="5928270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71500" y="5272087"/>
            <a:ext cx="2610147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3181647" y="5272087"/>
            <a:ext cx="2510581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692229" y="5272087"/>
            <a:ext cx="5928270" cy="9525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Fundamentos Legales del Sector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5381625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457325"/>
            <a:ext cx="5381625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95725"/>
            <a:ext cx="110490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57250" y="1743075"/>
            <a:ext cx="5050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Empresas Oficiales</a:t>
            </a:r>
            <a:endParaRPr sz="1800"/>
          </a:p>
        </p:txBody>
      </p:sp>
      <p:sp>
        <p:nvSpPr>
          <p:cNvPr id="134" name="Google Shape;134;p16"/>
          <p:cNvSpPr txBox="1"/>
          <p:nvPr/>
        </p:nvSpPr>
        <p:spPr>
          <a:xfrm>
            <a:off x="857250" y="2238375"/>
            <a:ext cx="481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Gerentes y directivos son </a:t>
            </a:r>
            <a:r>
              <a:rPr b="1" i="0" lang="en-US" sz="16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Servidores Públicos</a:t>
            </a:r>
            <a:r>
              <a:rPr b="0" i="0" lang="en-US" sz="16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. El IANC alto genera responsabilidad fiscal directa y personal bajo la Ley 610.</a:t>
            </a:r>
            <a:endParaRPr sz="1500"/>
          </a:p>
        </p:txBody>
      </p:sp>
      <p:sp>
        <p:nvSpPr>
          <p:cNvPr id="135" name="Google Shape;135;p16"/>
          <p:cNvSpPr txBox="1"/>
          <p:nvPr/>
        </p:nvSpPr>
        <p:spPr>
          <a:xfrm>
            <a:off x="6524625" y="1743075"/>
            <a:ext cx="5050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Empresas Mixtas</a:t>
            </a:r>
            <a:endParaRPr sz="1800"/>
          </a:p>
        </p:txBody>
      </p:sp>
      <p:sp>
        <p:nvSpPr>
          <p:cNvPr id="136" name="Google Shape;136;p16"/>
          <p:cNvSpPr txBox="1"/>
          <p:nvPr/>
        </p:nvSpPr>
        <p:spPr>
          <a:xfrm>
            <a:off x="6524625" y="2238375"/>
            <a:ext cx="481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El control fiscal recae sobre la cuota de capital público. La gestión ineficiente afecta el patrimonio estatal y los dividendos del municipio.</a:t>
            </a:r>
            <a:endParaRPr sz="1500"/>
          </a:p>
        </p:txBody>
      </p:sp>
      <p:sp>
        <p:nvSpPr>
          <p:cNvPr id="137" name="Google Shape;137;p16"/>
          <p:cNvSpPr txBox="1"/>
          <p:nvPr/>
        </p:nvSpPr>
        <p:spPr>
          <a:xfrm>
            <a:off x="857250" y="4181475"/>
            <a:ext cx="1100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Empresas Privadas (Operadores)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57250" y="4676775"/>
            <a:ext cx="1047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Bajo la </a:t>
            </a:r>
            <a:r>
              <a:rPr b="1" i="0" lang="en-US" sz="17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Sentencia C-736/07</a:t>
            </a:r>
            <a:r>
              <a:rPr b="0" i="0" lang="en-US" sz="17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, el operador privado es "Gestor Fiscal" al administrar redes del Estado. Responde con su patrimonio por el deterioro de activos estatales derivado de la negligencia técnica (fugas no atendidas).</a:t>
            </a:r>
            <a:endParaRPr sz="1600"/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Responsabilidades por Tipo de Empresa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57325"/>
            <a:ext cx="5334000" cy="423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2143125"/>
            <a:ext cx="5334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$130K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3286125"/>
            <a:ext cx="5334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Millones: Caso EAAB (Bogotá)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667500" y="1838325"/>
            <a:ext cx="4800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4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P</a:t>
            </a:r>
            <a:r>
              <a:rPr b="1" i="0" lang="en-US" sz="2604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recedente de la Contraloría</a:t>
            </a:r>
            <a:endParaRPr sz="2600"/>
          </a:p>
        </p:txBody>
      </p:sp>
      <p:sp>
        <p:nvSpPr>
          <p:cNvPr id="150" name="Google Shape;150;p17"/>
          <p:cNvSpPr txBox="1"/>
          <p:nvPr/>
        </p:nvSpPr>
        <p:spPr>
          <a:xfrm>
            <a:off x="6667500" y="2411175"/>
            <a:ext cx="45720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Los hallazgos representativos demuestran que superar el **30%** de IANC sin intervención técnica es considerado una "pérdida no aceptable" y un gasto ineficiente de recursos públicos invertidos en potabilización.</a:t>
            </a:r>
            <a:endParaRPr sz="1900"/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Impacto de la Ineficiencia Técnica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35559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457325"/>
            <a:ext cx="35559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457325"/>
            <a:ext cx="35559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17430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857250" y="2314575"/>
            <a:ext cx="3133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Daño Emergente</a:t>
            </a:r>
            <a:endParaRPr sz="2000"/>
          </a:p>
        </p:txBody>
      </p:sp>
      <p:sp>
        <p:nvSpPr>
          <p:cNvPr id="163" name="Google Shape;163;p18"/>
          <p:cNvSpPr txBox="1"/>
          <p:nvPr/>
        </p:nvSpPr>
        <p:spPr>
          <a:xfrm>
            <a:off x="857250" y="2996500"/>
            <a:ext cx="29844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b="0" i="0" lang="en-US" sz="19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érdida directa de recursos ya invertidos: químicos, energía y personal para agua que se fuga</a:t>
            </a: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4603700" y="2306775"/>
            <a:ext cx="3133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L</a:t>
            </a:r>
            <a:r>
              <a:rPr b="1" i="0" lang="en-US" sz="265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ucro Cesante</a:t>
            </a:r>
            <a:endParaRPr sz="2100"/>
          </a:p>
        </p:txBody>
      </p:sp>
      <p:sp>
        <p:nvSpPr>
          <p:cNvPr id="165" name="Google Shape;165;p18"/>
          <p:cNvSpPr txBox="1"/>
          <p:nvPr/>
        </p:nvSpPr>
        <p:spPr>
          <a:xfrm>
            <a:off x="4603725" y="2888800"/>
            <a:ext cx="29844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Ingresos que dejan de percibirse por ineficiencia en micromedición y fallas de catastro.</a:t>
            </a:r>
            <a:endParaRPr sz="2000"/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50150" y="17430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8350150" y="2314575"/>
            <a:ext cx="3133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Culpa Grave</a:t>
            </a:r>
            <a:endParaRPr sz="2000"/>
          </a:p>
        </p:txBody>
      </p:sp>
      <p:sp>
        <p:nvSpPr>
          <p:cNvPr id="168" name="Google Shape;168;p18"/>
          <p:cNvSpPr txBox="1"/>
          <p:nvPr/>
        </p:nvSpPr>
        <p:spPr>
          <a:xfrm>
            <a:off x="8350200" y="2996500"/>
            <a:ext cx="29844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Se configura por la **omisión de medios técnicos** disponibles para detectar y reparar fugas.</a:t>
            </a:r>
            <a:endParaRPr sz="1800"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Tipificación del Daño Patrimonial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2286000" y="2224087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SECCIÓN 02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2095500" y="2643187"/>
            <a:ext cx="8001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Estrategias de Mitigación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2286000" y="3662362"/>
            <a:ext cx="762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Implementación de tecnologías para la reducción de pérdidas y blindaje de responsabilidad fiscal.</a:t>
            </a:r>
            <a:endParaRPr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57325"/>
            <a:ext cx="5334000" cy="360208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571500" y="164782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Basadas en la evidencia física directa de la fuga. Permiten la localización puntual para intervención inmediata.</a:t>
            </a:r>
            <a:endParaRPr/>
          </a:p>
        </p:txBody>
      </p:sp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466850"/>
            <a:ext cx="5314950" cy="358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657225" y="240982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762000" y="2409825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Equipos Acústicos:</a:t>
            </a: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Geófonos y correladores que detectan el ruido del agua a presión.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57225" y="31242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3124200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Gases Trazadores:</a:t>
            </a: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Uso de Helio o Hidrógeno para fugas de difícil detección en tuberías de plástico.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57225" y="38385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762000" y="3838575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Inspección Directa:</a:t>
            </a: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Uso de Smart Balls y cámaras endoscópicas para redes troncales.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Tecnologías Determinísticas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533400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466850"/>
            <a:ext cx="531495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6286500" y="164782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Utilizan modelos matemáticos y algoritmos para predecir zonas de fuga y anomalías en el sistema.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372225" y="240982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477000" y="2409825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Modelación Hidráulica:</a:t>
            </a: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Simulación de presiones y flujos para identificar variaciones sospechosas.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372225" y="31242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477000" y="3124200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Inteligencia Artificial:</a:t>
            </a: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Análisis de datos históricos y en tiempo real para detectar patrones de pérdida.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372225" y="38385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477000" y="3838575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Análisis de Transitorios:</a:t>
            </a: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Detección de ondas de presión provocadas por fugas repentinas.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Tecnologías Probabilísticas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00400"/>
            <a:ext cx="49530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5525" y="9525"/>
            <a:ext cx="6076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628650" y="2082425"/>
            <a:ext cx="4953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La implementación de estas tecnologías permite el **rompimiento del nexo causal** en procesos de responsabilidad fiscal.</a:t>
            </a:r>
            <a:endParaRPr sz="1600"/>
          </a:p>
        </p:txBody>
      </p:sp>
      <p:sp>
        <p:nvSpPr>
          <p:cNvPr id="220" name="Google Shape;220;p22"/>
          <p:cNvSpPr txBox="1"/>
          <p:nvPr/>
        </p:nvSpPr>
        <p:spPr>
          <a:xfrm>
            <a:off x="895350" y="3676650"/>
            <a:ext cx="4343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Al demostrar el uso de medios técnicos (determinísticos o probabilísticos), el gestor prueba que el riesgo fue **identificado y gestionado**, salvaguardando su responsabilidad personal frente a hallazgos de la Contraloría.</a:t>
            </a:r>
            <a:endParaRPr sz="1700"/>
          </a:p>
        </p:txBody>
      </p:sp>
      <p:sp>
        <p:nvSpPr>
          <p:cNvPr id="221" name="Google Shape;221;p22"/>
          <p:cNvSpPr txBox="1"/>
          <p:nvPr/>
        </p:nvSpPr>
        <p:spPr>
          <a:xfrm>
            <a:off x="762000" y="571500"/>
            <a:ext cx="500062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Blindaje: Debida Diligencia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71500" y="571500"/>
            <a:ext cx="57150" cy="10096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650" y="-576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33575"/>
            <a:ext cx="2430650" cy="30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75" y="1933575"/>
            <a:ext cx="2430675" cy="30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850" y="1933575"/>
            <a:ext cx="2430675" cy="30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9550" y="1933575"/>
            <a:ext cx="2430650" cy="30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819213" y="2015475"/>
            <a:ext cx="193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FASE 1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819150" y="2466975"/>
            <a:ext cx="20321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Diagnóstico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819150" y="2847975"/>
            <a:ext cx="19353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Auditoría de catastro y balance hídrico inicial.</a:t>
            </a:r>
            <a:endParaRPr sz="2300"/>
          </a:p>
        </p:txBody>
      </p:sp>
      <p:sp>
        <p:nvSpPr>
          <p:cNvPr id="235" name="Google Shape;235;p23"/>
          <p:cNvSpPr txBox="1"/>
          <p:nvPr/>
        </p:nvSpPr>
        <p:spPr>
          <a:xfrm>
            <a:off x="3691818" y="2009775"/>
            <a:ext cx="193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FASE 2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3691830" y="2466975"/>
            <a:ext cx="20321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Monitoreo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3691830" y="2847975"/>
            <a:ext cx="1935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b="0" i="0" lang="en-US" sz="20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mplementación de modelos probabilísticos d</a:t>
            </a: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e IA.</a:t>
            </a:r>
            <a:endParaRPr sz="1700"/>
          </a:p>
        </p:txBody>
      </p:sp>
      <p:sp>
        <p:nvSpPr>
          <p:cNvPr id="238" name="Google Shape;238;p23"/>
          <p:cNvSpPr txBox="1"/>
          <p:nvPr/>
        </p:nvSpPr>
        <p:spPr>
          <a:xfrm>
            <a:off x="6440660" y="2009775"/>
            <a:ext cx="193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FASE 3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6564510" y="2466975"/>
            <a:ext cx="20321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Intervención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564510" y="2847975"/>
            <a:ext cx="19353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Detección determinística y reparación de fugas.</a:t>
            </a:r>
            <a:endParaRPr sz="2100"/>
          </a:p>
        </p:txBody>
      </p:sp>
      <p:sp>
        <p:nvSpPr>
          <p:cNvPr id="241" name="Google Shape;241;p23"/>
          <p:cNvSpPr txBox="1"/>
          <p:nvPr/>
        </p:nvSpPr>
        <p:spPr>
          <a:xfrm>
            <a:off x="9437241" y="2009775"/>
            <a:ext cx="193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FASE 4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9437191" y="2466975"/>
            <a:ext cx="20321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Blindaje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9437191" y="2847975"/>
            <a:ext cx="1935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Documentación de gestión ante entes de control</a:t>
            </a:r>
            <a:r>
              <a:rPr b="0" i="0" lang="en-US" sz="18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/>
          </a:p>
        </p:txBody>
      </p:sp>
      <p:sp>
        <p:nvSpPr>
          <p:cNvPr id="244" name="Google Shape;244;p23"/>
          <p:cNvSpPr/>
          <p:nvPr/>
        </p:nvSpPr>
        <p:spPr>
          <a:xfrm>
            <a:off x="571500" y="2314575"/>
            <a:ext cx="11049000" cy="38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Hoja de Ruta de Mitigación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2135505" y="1962150"/>
            <a:ext cx="79209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Conclusiones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2324100" y="3143250"/>
            <a:ext cx="7543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Eficiencia Técnica = Sostenibilidad Legal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2533650" y="3984300"/>
            <a:ext cx="301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Gestión de Riesgos Fiscales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2533650" y="4610100"/>
            <a:ext cx="3019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Protección del Patrimonio Esta</a:t>
            </a:r>
            <a:r>
              <a:rPr b="0" i="0" lang="en-US" sz="27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0" i="0" lang="en-US" sz="23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al</a:t>
            </a:r>
            <a:endParaRPr sz="2200"/>
          </a:p>
        </p:txBody>
      </p:sp>
      <p:sp>
        <p:nvSpPr>
          <p:cNvPr id="256" name="Google Shape;256;p24"/>
          <p:cNvSpPr txBox="1"/>
          <p:nvPr/>
        </p:nvSpPr>
        <p:spPr>
          <a:xfrm>
            <a:off x="6143600" y="3962400"/>
            <a:ext cx="3724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b="0" i="0" lang="en-US" sz="17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strategia Tecnológic</a:t>
            </a:r>
            <a:r>
              <a:rPr b="0" i="0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6143625" y="4610100"/>
            <a:ext cx="37242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Detección Determinística y Probabilístic</a:t>
            </a:r>
            <a:r>
              <a:rPr b="0" i="0" lang="en-US" sz="15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/>
          <p:nvPr/>
        </p:nvSpPr>
        <p:spPr>
          <a:xfrm>
            <a:off x="571500" y="14573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22288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22193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22193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2990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2990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66875" y="16073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https://fugasur.pe/wp-content/uploads/2024/07/reparacion-de-fugas-de-agua-cusco-02.webp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666875" y="18407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fugasur.pe</a:t>
            </a:r>
            <a:endParaRPr/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717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66875" y="23788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https://www.mdpi.com/water/water-17-02957/article_deploy/html/images/water-17-02957-g001.png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66875" y="26122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www.mdpi.com</a:t>
            </a:r>
            <a:endParaRPr/>
          </a:p>
        </p:txBody>
      </p:sp>
      <p:pic>
        <p:nvPicPr>
          <p:cNvPr descr="image.png" id="275" name="Google Shape;27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432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66875" y="31503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https://news.mit.edu/sites/default/files/images/202411/MIT-AI-Flood-01-press.jpg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66875" y="33837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news.mit.edu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